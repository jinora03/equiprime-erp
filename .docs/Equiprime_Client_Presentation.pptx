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2B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 Operations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Digitalization Proposal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2240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2EF"/>
                </a:solidFill>
              </a:rPr>
              <a:t>Job Order Management System and ERP Foundation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543800" y="685800"/>
            <a:ext cx="3520440" cy="1005840"/>
          </a:xfrm>
          <a:prstGeom prst="rect">
            <a:avLst/>
          </a:prstGeom>
          <a:solidFill>
            <a:srgbClr val="A68646"/>
          </a:solidFill>
          <a:ln w="12700">
            <a:solidFill>
              <a:srgbClr val="A686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review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requirements discovery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43800" y="1874520"/>
            <a:ext cx="3520440" cy="1051560"/>
          </a:xfrm>
          <a:prstGeom prst="rect">
            <a:avLst/>
          </a:prstGeom>
          <a:solidFill>
            <a:srgbClr val="203A5D"/>
          </a:solidFill>
          <a:ln w="12700">
            <a:solidFill>
              <a:srgbClr val="375A8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focus: Job Orders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path: Full ERP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5897880"/>
            <a:ext cx="77724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8D2E2"/>
                </a:solidFill>
              </a:rPr>
              <a:t>Prepared as a client discussion draft. Final scope, pricing, and timeline should be confirmed after discovery.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5650992"/>
            <a:ext cx="10789920" cy="0"/>
          </a:xfrm>
          <a:prstGeom prst="line">
            <a:avLst/>
          </a:prstGeom>
          <a:noFill/>
          <a:ln w="12700">
            <a:solidFill>
              <a:srgbClr val="A686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0" y="64739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Service Operations Digitalization |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686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DISCUSSION DRAFT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2B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current operation is fragmented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10332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The business problem is not simply “no software.” The company already has tools, but daily work still depends on manual processes.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2240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forms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search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standardize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971800" y="2761488"/>
            <a:ext cx="429768" cy="0"/>
          </a:xfrm>
          <a:prstGeom prst="line">
            <a:avLst/>
          </a:prstGeom>
          <a:noFill/>
          <a:ln w="19050">
            <a:solidFill>
              <a:srgbClr val="D9DEE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474720" y="2057400"/>
            <a:ext cx="2240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/ Sheets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conflicts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scattered files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60720" y="2761488"/>
            <a:ext cx="429768" cy="0"/>
          </a:xfrm>
          <a:prstGeom prst="line">
            <a:avLst/>
          </a:prstGeom>
          <a:noFill/>
          <a:ln w="19050">
            <a:solidFill>
              <a:srgbClr val="D9DEE8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263640" y="2057400"/>
            <a:ext cx="2240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Messages / calls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context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lost in conversations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761488"/>
            <a:ext cx="429768" cy="0"/>
          </a:xfrm>
          <a:prstGeom prst="line">
            <a:avLst/>
          </a:prstGeom>
          <a:noFill/>
          <a:ln w="19050">
            <a:solidFill>
              <a:srgbClr val="D9DEE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052560" y="2057400"/>
            <a:ext cx="2240280" cy="1417320"/>
          </a:xfrm>
          <a:prstGeom prst="rect">
            <a:avLst/>
          </a:prstGeom>
          <a:solidFill>
            <a:srgbClr val="F4F0E6"/>
          </a:solidFill>
          <a:ln w="12700">
            <a:solidFill>
              <a:srgbClr val="A686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Zoho unused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and fit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investigation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4617720"/>
            <a:ext cx="9555480" cy="841248"/>
          </a:xfrm>
          <a:prstGeom prst="rect">
            <a:avLst/>
          </a:prstGeom>
          <a:solidFill>
            <a:srgbClr val="192B48"/>
          </a:solidFill>
          <a:ln w="12700">
            <a:solidFill>
              <a:srgbClr val="192B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management visibility, accountability, service history, and branch coordination depend on manual follow-up.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418320" y="64739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Service Operations Digitalization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686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DISCUSSION DRAFT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2B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entry point: Job Orders first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Do not pitch a complete ERP replacement on day one. Start with the service workflow that creates visible daily value, then expand once adoption is proven.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150876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449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92B48"/>
                </a:solidFill>
              </a:rPr>
              <a:t>Service request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395728" y="2615184"/>
            <a:ext cx="457200" cy="0"/>
          </a:xfrm>
          <a:prstGeom prst="line">
            <a:avLst/>
          </a:prstGeom>
          <a:noFill/>
          <a:ln w="19050">
            <a:solidFill>
              <a:srgbClr val="A68646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907792" y="2240280"/>
            <a:ext cx="1508760" cy="749808"/>
          </a:xfrm>
          <a:prstGeom prst="rect">
            <a:avLst/>
          </a:prstGeom>
          <a:solidFill>
            <a:srgbClr val="EAF1F7"/>
          </a:solidFill>
          <a:ln w="15240">
            <a:solidFill>
              <a:srgbClr val="2449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92B48"/>
                </a:solidFill>
              </a:rPr>
              <a:t>Job Order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2615184"/>
            <a:ext cx="457200" cy="0"/>
          </a:xfrm>
          <a:prstGeom prst="line">
            <a:avLst/>
          </a:prstGeom>
          <a:noFill/>
          <a:ln w="19050">
            <a:solidFill>
              <a:srgbClr val="A68646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983480" y="2240280"/>
            <a:ext cx="150876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449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92B48"/>
                </a:solidFill>
              </a:rPr>
              <a:t>Mechanic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92B48"/>
                </a:solidFill>
              </a:rPr>
              <a:t>assignment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56248" y="2615184"/>
            <a:ext cx="457200" cy="0"/>
          </a:xfrm>
          <a:prstGeom prst="line">
            <a:avLst/>
          </a:prstGeom>
          <a:noFill/>
          <a:ln w="19050">
            <a:solidFill>
              <a:srgbClr val="A68646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059168" y="2240280"/>
            <a:ext cx="150876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2449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92B48"/>
                </a:solidFill>
              </a:rPr>
              <a:t>Work + parts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92B48"/>
                </a:solidFill>
              </a:rPr>
              <a:t>tracking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31936" y="2615184"/>
            <a:ext cx="457200" cy="0"/>
          </a:xfrm>
          <a:prstGeom prst="line">
            <a:avLst/>
          </a:prstGeom>
          <a:noFill/>
          <a:ln w="19050">
            <a:solidFill>
              <a:srgbClr val="A68646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44000" y="2240280"/>
            <a:ext cx="1508760" cy="749808"/>
          </a:xfrm>
          <a:prstGeom prst="rect">
            <a:avLst/>
          </a:prstGeom>
          <a:solidFill>
            <a:srgbClr val="F4F0E6"/>
          </a:solidFill>
          <a:ln w="15240">
            <a:solidFill>
              <a:srgbClr val="A686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92B48"/>
                </a:solidFill>
              </a:rPr>
              <a:t>Completion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92B48"/>
                </a:solidFill>
              </a:rPr>
              <a:t>+ history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886200"/>
            <a:ext cx="2194560" cy="475488"/>
          </a:xfrm>
          <a:prstGeom prst="rect">
            <a:avLst/>
          </a:prstGeom>
          <a:solidFill>
            <a:srgbClr val="192B48"/>
          </a:solidFill>
          <a:ln w="12700">
            <a:solidFill>
              <a:srgbClr val="192B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scope works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46120" y="3822192"/>
            <a:ext cx="699516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Directly replaces the manual service process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Builds customer and equipment history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Creates a foundation for parts and inventory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Easier to train and adopt than a full ERP rollout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18320" y="64739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Service Operations Digitalization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686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DISCUSSION DRAFT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2B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 production scope should stay focused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1417320" cy="292608"/>
          </a:xfrm>
          <a:prstGeom prst="rect">
            <a:avLst/>
          </a:prstGeom>
          <a:solidFill>
            <a:srgbClr val="192B48"/>
          </a:solidFill>
          <a:ln>
            <a:solidFill>
              <a:srgbClr val="192B4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Must have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154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+ roles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Equipment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Orders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Mechanics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stages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80560" y="1417320"/>
            <a:ext cx="1417320" cy="292608"/>
          </a:xfrm>
          <a:prstGeom prst="rect">
            <a:avLst/>
          </a:prstGeom>
          <a:solidFill>
            <a:srgbClr val="A68646"/>
          </a:solidFill>
          <a:ln>
            <a:solidFill>
              <a:srgbClr val="A6864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Should have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480560" y="1874520"/>
            <a:ext cx="3154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Items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Parts requests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dashboard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history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Mobile-friendly UI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0" y="1417320"/>
            <a:ext cx="1417320" cy="292608"/>
          </a:xfrm>
          <a:prstGeom prst="rect">
            <a:avLst/>
          </a:prstGeom>
          <a:solidFill>
            <a:srgbClr val="24496E"/>
          </a:solidFill>
          <a:ln>
            <a:solidFill>
              <a:srgbClr val="24496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Confirm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0" y="1874520"/>
            <a:ext cx="3154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vehicles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signatures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Printable service report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Branch-specific workflows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800600"/>
            <a:ext cx="10424160" cy="749808"/>
          </a:xfrm>
          <a:prstGeom prst="rect">
            <a:avLst/>
          </a:prstGeom>
          <a:solidFill>
            <a:srgbClr val="F4F0E6"/>
          </a:solidFill>
          <a:ln w="12700">
            <a:solidFill>
              <a:srgbClr val="A686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ERP modules should be roadmap items, not Phase 1 promises: Inventory, Purchasing, Sales, CRM, Reports, HR, Payroll, Accounting.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0" y="64739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Service Operations Digitalization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686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DISCUSSION DRAFT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2B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frame the prototype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2834640" cy="1005840"/>
          </a:xfrm>
          <a:prstGeom prst="rect">
            <a:avLst/>
          </a:prstGeom>
          <a:solidFill>
            <a:srgbClr val="FFF1F0"/>
          </a:solidFill>
          <a:ln w="12700">
            <a:solidFill>
              <a:srgbClr val="F5B5A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the final ERP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617720" y="1554480"/>
            <a:ext cx="2834640" cy="1005840"/>
          </a:xfrm>
          <a:prstGeom prst="rect">
            <a:avLst/>
          </a:prstGeom>
          <a:solidFill>
            <a:srgbClr val="EAF1F7"/>
          </a:solidFill>
          <a:ln w="12700">
            <a:solidFill>
              <a:srgbClr val="2449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conversation tool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412480" y="1554480"/>
            <a:ext cx="2834640" cy="1005840"/>
          </a:xfrm>
          <a:prstGeom prst="rect">
            <a:avLst/>
          </a:prstGeom>
          <a:solidFill>
            <a:srgbClr val="F4F0E6"/>
          </a:solidFill>
          <a:ln w="12700">
            <a:solidFill>
              <a:srgbClr val="A686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for production scope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730752" y="2057400"/>
            <a:ext cx="768096" cy="0"/>
          </a:xfrm>
          <a:prstGeom prst="line">
            <a:avLst/>
          </a:prstGeom>
          <a:noFill/>
          <a:ln w="19050">
            <a:solidFill>
              <a:srgbClr val="A6864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525512" y="2057400"/>
            <a:ext cx="768096" cy="0"/>
          </a:xfrm>
          <a:prstGeom prst="line">
            <a:avLst/>
          </a:prstGeom>
          <a:noFill/>
          <a:ln w="19050">
            <a:solidFill>
              <a:srgbClr val="A68646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68680" y="3703320"/>
            <a:ext cx="2834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92B48"/>
                </a:solidFill>
              </a:rPr>
              <a:t>Suggested client wording: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160520"/>
            <a:ext cx="9921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“We prepared this prototype to demonstrate a possible digital Job Order workflow. Today’s goal is to validate it against how your company actually operates, identify changes, and use that as the basis for a production implementation.”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418320" y="64739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Service Operations Digitalization |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686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DISCUSSION DRAFT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2B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demo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384048" cy="384048"/>
          </a:xfrm>
          <a:prstGeom prst="rect">
            <a:avLst/>
          </a:prstGeom>
          <a:solidFill>
            <a:srgbClr val="A68646"/>
          </a:solidFill>
          <a:ln w="12700">
            <a:solidFill>
              <a:srgbClr val="A686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389888"/>
            <a:ext cx="27432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B48"/>
                </a:solidFill>
              </a:rPr>
              <a:t>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43400" y="1399032"/>
            <a:ext cx="63550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Show visibility into active service operations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384048" cy="384048"/>
          </a:xfrm>
          <a:prstGeom prst="rect">
            <a:avLst/>
          </a:prstGeom>
          <a:solidFill>
            <a:srgbClr val="A68646"/>
          </a:solidFill>
          <a:ln w="12700">
            <a:solidFill>
              <a:srgbClr val="A686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258568"/>
            <a:ext cx="27432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B48"/>
                </a:solidFill>
              </a:rPr>
              <a:t>Customers + equipment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43400" y="2267712"/>
            <a:ext cx="63550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Show records feeding Job Orders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154680"/>
            <a:ext cx="384048" cy="384048"/>
          </a:xfrm>
          <a:prstGeom prst="rect">
            <a:avLst/>
          </a:prstGeom>
          <a:solidFill>
            <a:srgbClr val="A68646"/>
          </a:solidFill>
          <a:ln w="12700">
            <a:solidFill>
              <a:srgbClr val="A686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3127248"/>
            <a:ext cx="27432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B48"/>
                </a:solidFill>
              </a:rPr>
              <a:t>Create Job Order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43400" y="3136392"/>
            <a:ext cx="63550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Customer, equipment, priority, mechanic, vehicle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023360"/>
            <a:ext cx="384048" cy="384048"/>
          </a:xfrm>
          <a:prstGeom prst="rect">
            <a:avLst/>
          </a:prstGeom>
          <a:solidFill>
            <a:srgbClr val="A68646"/>
          </a:solidFill>
          <a:ln w="12700">
            <a:solidFill>
              <a:srgbClr val="A686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995928"/>
            <a:ext cx="27432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B48"/>
                </a:solidFill>
              </a:rPr>
              <a:t>Workflow detail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43400" y="4005072"/>
            <a:ext cx="63550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Stages, work items, parts, approvals, history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892040"/>
            <a:ext cx="384048" cy="384048"/>
          </a:xfrm>
          <a:prstGeom prst="rect">
            <a:avLst/>
          </a:prstGeom>
          <a:solidFill>
            <a:srgbClr val="A68646"/>
          </a:solidFill>
          <a:ln w="12700">
            <a:solidFill>
              <a:srgbClr val="A686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864608"/>
            <a:ext cx="27432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B48"/>
                </a:solidFill>
              </a:rPr>
              <a:t>Ask questions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43400" y="4873752"/>
            <a:ext cx="63550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Validate what differs from their real process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5715000"/>
            <a:ext cx="9601200" cy="438912"/>
          </a:xfrm>
          <a:prstGeom prst="rect">
            <a:avLst/>
          </a:prstGeom>
          <a:solidFill>
            <a:srgbClr val="192B48"/>
          </a:solidFill>
          <a:ln w="12700">
            <a:solidFill>
              <a:srgbClr val="192B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should create discussion, not lock the scope.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0" y="64739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Service Operations Digitalization |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686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DISCUSSION DRAFT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2B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practical path from Job Orders to ERP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103327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Build a narrow production foundation first, then expand into ERP modules after users adopt the system.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960120" cy="292608"/>
          </a:xfrm>
          <a:prstGeom prst="rect">
            <a:avLst/>
          </a:prstGeom>
          <a:solidFill>
            <a:srgbClr val="192B48"/>
          </a:solidFill>
          <a:ln>
            <a:solidFill>
              <a:srgbClr val="192B4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2761488"/>
            <a:ext cx="1737360" cy="1024128"/>
          </a:xfrm>
          <a:prstGeom prst="rect">
            <a:avLst/>
          </a:prstGeom>
          <a:solidFill>
            <a:srgbClr val="EAF1F7"/>
          </a:solidFill>
          <a:ln w="12700">
            <a:solidFill>
              <a:srgbClr val="D9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Orders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workflow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468880" y="3273552"/>
            <a:ext cx="374904" cy="0"/>
          </a:xfrm>
          <a:prstGeom prst="line">
            <a:avLst/>
          </a:prstGeom>
          <a:noFill/>
          <a:ln w="19050">
            <a:solidFill>
              <a:srgbClr val="D9DEE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971800" y="2240280"/>
            <a:ext cx="960120" cy="292608"/>
          </a:xfrm>
          <a:prstGeom prst="rect">
            <a:avLst/>
          </a:prstGeom>
          <a:solidFill>
            <a:srgbClr val="A68646"/>
          </a:solidFill>
          <a:ln>
            <a:solidFill>
              <a:srgbClr val="A6864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71800" y="2761488"/>
            <a:ext cx="17373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Parts + Inventory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Maintenance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754880" y="3273552"/>
            <a:ext cx="374904" cy="0"/>
          </a:xfrm>
          <a:prstGeom prst="line">
            <a:avLst/>
          </a:prstGeom>
          <a:noFill/>
          <a:ln w="19050">
            <a:solidFill>
              <a:srgbClr val="D9DEE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257800" y="2240280"/>
            <a:ext cx="960120" cy="292608"/>
          </a:xfrm>
          <a:prstGeom prst="rect">
            <a:avLst/>
          </a:prstGeom>
          <a:solidFill>
            <a:srgbClr val="A68646"/>
          </a:solidFill>
          <a:ln>
            <a:solidFill>
              <a:srgbClr val="A6864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257800" y="2761488"/>
            <a:ext cx="17373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Purchasing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/ CRM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040880" y="3273552"/>
            <a:ext cx="374904" cy="0"/>
          </a:xfrm>
          <a:prstGeom prst="line">
            <a:avLst/>
          </a:prstGeom>
          <a:noFill/>
          <a:ln w="19050">
            <a:solidFill>
              <a:srgbClr val="D9DEE8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543800" y="2240280"/>
            <a:ext cx="960120" cy="292608"/>
          </a:xfrm>
          <a:prstGeom prst="rect">
            <a:avLst/>
          </a:prstGeom>
          <a:solidFill>
            <a:srgbClr val="A68646"/>
          </a:solidFill>
          <a:ln>
            <a:solidFill>
              <a:srgbClr val="A6864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543800" y="2761488"/>
            <a:ext cx="17373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analytics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326880" y="3273552"/>
            <a:ext cx="374904" cy="0"/>
          </a:xfrm>
          <a:prstGeom prst="line">
            <a:avLst/>
          </a:prstGeom>
          <a:noFill/>
          <a:ln w="19050">
            <a:solidFill>
              <a:srgbClr val="D9DEE8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829800" y="2240280"/>
            <a:ext cx="960120" cy="292608"/>
          </a:xfrm>
          <a:prstGeom prst="rect">
            <a:avLst/>
          </a:prstGeom>
          <a:solidFill>
            <a:srgbClr val="A68646"/>
          </a:solidFill>
          <a:ln>
            <a:solidFill>
              <a:srgbClr val="A6864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829800" y="2761488"/>
            <a:ext cx="17373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/ Payroll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51560" y="5120640"/>
            <a:ext cx="10058400" cy="749808"/>
          </a:xfrm>
          <a:prstGeom prst="rect">
            <a:avLst/>
          </a:prstGeom>
          <a:solidFill>
            <a:srgbClr val="F4F0E6"/>
          </a:solidFill>
          <a:ln w="12700">
            <a:solidFill>
              <a:srgbClr val="A686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principle: do not build SAP for a company under 100 people. Build the simplest system they will actually use, then grow it.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0" y="64739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Service Operations Digitalization |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686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DISCUSSION DRAFT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2B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commercial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10424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Use a hybrid model: fixed or milestone pricing for the clearly defined first phase, then monthly development/support for evolving ERP expansion.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2880360" cy="502920"/>
          </a:xfrm>
          <a:prstGeom prst="rect">
            <a:avLst/>
          </a:prstGeom>
          <a:solidFill>
            <a:srgbClr val="A68646"/>
          </a:solidFill>
          <a:ln w="12700">
            <a:solidFill>
              <a:srgbClr val="A686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816352"/>
            <a:ext cx="2880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fee or credited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project award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858768"/>
            <a:ext cx="2880360" cy="960120"/>
          </a:xfrm>
          <a:prstGeom prst="rect">
            <a:avLst/>
          </a:prstGeom>
          <a:solidFill>
            <a:srgbClr val="F6F8FB"/>
          </a:solidFill>
          <a:ln w="12700">
            <a:solidFill>
              <a:srgbClr val="D9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mapping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Zoho review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validation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0" y="2148840"/>
            <a:ext cx="2880360" cy="502920"/>
          </a:xfrm>
          <a:prstGeom prst="rect">
            <a:avLst/>
          </a:prstGeom>
          <a:solidFill>
            <a:srgbClr val="192B48"/>
          </a:solidFill>
          <a:ln w="12700">
            <a:solidFill>
              <a:srgbClr val="192B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Build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2816352"/>
            <a:ext cx="2880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Fixed-scope / milestone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Order system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3858768"/>
            <a:ext cx="2880360" cy="960120"/>
          </a:xfrm>
          <a:prstGeom prst="rect">
            <a:avLst/>
          </a:prstGeom>
          <a:solidFill>
            <a:srgbClr val="F6F8FB"/>
          </a:solidFill>
          <a:ln w="12700">
            <a:solidFill>
              <a:srgbClr val="D9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backend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75320" y="2148840"/>
            <a:ext cx="2880360" cy="502920"/>
          </a:xfrm>
          <a:prstGeom prst="rect">
            <a:avLst/>
          </a:prstGeom>
          <a:solidFill>
            <a:srgbClr val="A68646"/>
          </a:solidFill>
          <a:ln w="12700">
            <a:solidFill>
              <a:srgbClr val="A686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Launch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75320" y="2816352"/>
            <a:ext cx="2880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development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9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support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75320" y="3858768"/>
            <a:ext cx="2880360" cy="960120"/>
          </a:xfrm>
          <a:prstGeom prst="rect">
            <a:avLst/>
          </a:prstGeom>
          <a:solidFill>
            <a:srgbClr val="F6F8FB"/>
          </a:solidFill>
          <a:ln w="12700">
            <a:solidFill>
              <a:srgbClr val="D9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Enhancements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modules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40280" y="5650992"/>
            <a:ext cx="7955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2318"/>
                </a:solidFill>
              </a:rPr>
              <a:t>Avoid quoting a full ERP fixed price before requirements are known.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418320" y="64739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Service Operations Digitalization |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686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DISCUSSION DRAFT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2B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approach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438912" cy="438912"/>
          </a:xfrm>
          <a:prstGeom prst="rect">
            <a:avLst/>
          </a:prstGeom>
          <a:solidFill>
            <a:srgbClr val="192B48"/>
          </a:solidFill>
          <a:ln w="12700">
            <a:solidFill>
              <a:srgbClr val="192B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98448" y="1947672"/>
            <a:ext cx="1143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92B48"/>
                </a:solidFill>
              </a:rPr>
              <a:t>Discovery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322576" y="2139696"/>
            <a:ext cx="265176" cy="0"/>
          </a:xfrm>
          <a:prstGeom prst="line">
            <a:avLst/>
          </a:prstGeom>
          <a:noFill/>
          <a:ln w="19050">
            <a:solidFill>
              <a:srgbClr val="A68646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606040" y="1920240"/>
            <a:ext cx="438912" cy="438912"/>
          </a:xfrm>
          <a:prstGeom prst="rect">
            <a:avLst/>
          </a:prstGeom>
          <a:solidFill>
            <a:srgbClr val="192B48"/>
          </a:solidFill>
          <a:ln w="12700">
            <a:solidFill>
              <a:srgbClr val="192B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72968" y="1947672"/>
            <a:ext cx="1143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92B48"/>
                </a:solidFill>
              </a:rPr>
              <a:t>Final scope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197096" y="2139696"/>
            <a:ext cx="265176" cy="0"/>
          </a:xfrm>
          <a:prstGeom prst="line">
            <a:avLst/>
          </a:prstGeom>
          <a:noFill/>
          <a:ln w="19050">
            <a:solidFill>
              <a:srgbClr val="A68646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480560" y="1920240"/>
            <a:ext cx="438912" cy="438912"/>
          </a:xfrm>
          <a:prstGeom prst="rect">
            <a:avLst/>
          </a:prstGeom>
          <a:solidFill>
            <a:srgbClr val="192B48"/>
          </a:solidFill>
          <a:ln w="12700">
            <a:solidFill>
              <a:srgbClr val="192B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47488" y="1947672"/>
            <a:ext cx="1143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92B48"/>
                </a:solidFill>
              </a:rPr>
              <a:t>Production build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71616" y="2139696"/>
            <a:ext cx="265176" cy="0"/>
          </a:xfrm>
          <a:prstGeom prst="line">
            <a:avLst/>
          </a:prstGeom>
          <a:noFill/>
          <a:ln w="19050">
            <a:solidFill>
              <a:srgbClr val="A68646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355080" y="1920240"/>
            <a:ext cx="438912" cy="438912"/>
          </a:xfrm>
          <a:prstGeom prst="rect">
            <a:avLst/>
          </a:prstGeom>
          <a:solidFill>
            <a:srgbClr val="192B48"/>
          </a:solidFill>
          <a:ln w="12700">
            <a:solidFill>
              <a:srgbClr val="192B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22008" y="1947672"/>
            <a:ext cx="1143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92B48"/>
                </a:solidFill>
              </a:rPr>
              <a:t>UAT + training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946136" y="2139696"/>
            <a:ext cx="265176" cy="0"/>
          </a:xfrm>
          <a:prstGeom prst="line">
            <a:avLst/>
          </a:prstGeom>
          <a:noFill/>
          <a:ln w="19050">
            <a:solidFill>
              <a:srgbClr val="A68646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229600" y="1920240"/>
            <a:ext cx="438912" cy="438912"/>
          </a:xfrm>
          <a:prstGeom prst="rect">
            <a:avLst/>
          </a:prstGeom>
          <a:solidFill>
            <a:srgbClr val="192B48"/>
          </a:solidFill>
          <a:ln w="12700">
            <a:solidFill>
              <a:srgbClr val="192B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96528" y="1947672"/>
            <a:ext cx="1143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92B48"/>
                </a:solidFill>
              </a:rPr>
              <a:t>Launch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820656" y="2139696"/>
            <a:ext cx="265176" cy="0"/>
          </a:xfrm>
          <a:prstGeom prst="line">
            <a:avLst/>
          </a:prstGeom>
          <a:noFill/>
          <a:ln w="19050">
            <a:solidFill>
              <a:srgbClr val="A68646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104120" y="1920240"/>
            <a:ext cx="438912" cy="438912"/>
          </a:xfrm>
          <a:prstGeom prst="rect">
            <a:avLst/>
          </a:prstGeom>
          <a:solidFill>
            <a:srgbClr val="192B48"/>
          </a:solidFill>
          <a:ln w="12700">
            <a:solidFill>
              <a:srgbClr val="192B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671048" y="1947672"/>
            <a:ext cx="1143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92B48"/>
                </a:solidFill>
              </a:rPr>
              <a:t>Monthly expansion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68680" y="3703320"/>
            <a:ext cx="2103120" cy="438912"/>
          </a:xfrm>
          <a:prstGeom prst="rect">
            <a:avLst/>
          </a:prstGeom>
          <a:solidFill>
            <a:srgbClr val="A68646"/>
          </a:solidFill>
          <a:ln w="12700">
            <a:solidFill>
              <a:srgbClr val="A686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outputs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37560" y="3502152"/>
            <a:ext cx="7132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• Approved process map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• Phase 1 feature list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• Acceptance criteria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• Timeline and price range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• Production architecture assumptions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418320" y="64739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Service Operations Digitalization |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686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DISCUSSION DRAFT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2B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to validate with the client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Order flow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creates it?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approves it?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statuses are real?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4434840" y="1508760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execution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assigns mechanics?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Are service vehicles tracked?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Are customer signatures needed?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8046720" y="1508760"/>
            <a:ext cx="3337560" cy="1828800"/>
          </a:xfrm>
          <a:prstGeom prst="rect">
            <a:avLst/>
          </a:prstGeom>
          <a:solidFill>
            <a:srgbClr val="F4F0E6"/>
          </a:solidFill>
          <a:ln w="12700">
            <a:solidFill>
              <a:srgbClr val="A68646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risks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is Zoho unused?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made prior tools difficult?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will enforce usage?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1234440" y="4709160"/>
            <a:ext cx="9692640" cy="777240"/>
          </a:xfrm>
          <a:prstGeom prst="rect">
            <a:avLst/>
          </a:prstGeom>
          <a:solidFill>
            <a:srgbClr val="192B48"/>
          </a:solidFill>
          <a:ln w="12700">
            <a:solidFill>
              <a:srgbClr val="192B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is not only building features. It is designing a workflow that their people will consistently use.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8320" y="64739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Service Operations Digitalization |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686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DISCUSSION DRAFT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2B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architecture direction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173736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449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92B48"/>
                </a:solidFill>
              </a:rPr>
              <a:t>Users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92B48"/>
                </a:solidFill>
              </a:rPr>
              <a:t>Desktop / mobile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633472" y="2304288"/>
            <a:ext cx="521208" cy="0"/>
          </a:xfrm>
          <a:prstGeom prst="line">
            <a:avLst/>
          </a:prstGeom>
          <a:noFill/>
          <a:ln w="19050">
            <a:solidFill>
              <a:srgbClr val="A68646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200400" y="1874520"/>
            <a:ext cx="2103120" cy="868680"/>
          </a:xfrm>
          <a:prstGeom prst="rect">
            <a:avLst/>
          </a:prstGeom>
          <a:solidFill>
            <a:srgbClr val="EAF1F7"/>
          </a:solidFill>
          <a:ln w="15240">
            <a:solidFill>
              <a:srgbClr val="2449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92B48"/>
                </a:solidFill>
              </a:rPr>
              <a:t>Web application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92B48"/>
                </a:solidFill>
              </a:rPr>
              <a:t>React + TypeScript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22392" y="2304288"/>
            <a:ext cx="521208" cy="0"/>
          </a:xfrm>
          <a:prstGeom prst="line">
            <a:avLst/>
          </a:prstGeom>
          <a:noFill/>
          <a:ln w="19050">
            <a:solidFill>
              <a:srgbClr val="A68646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989320" y="1874520"/>
            <a:ext cx="224028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449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92B48"/>
                </a:solidFill>
              </a:rPr>
              <a:t>Backend API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92B48"/>
                </a:solidFill>
              </a:rPr>
              <a:t>Business rules + security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348472" y="2304288"/>
            <a:ext cx="521208" cy="0"/>
          </a:xfrm>
          <a:prstGeom prst="line">
            <a:avLst/>
          </a:prstGeom>
          <a:noFill/>
          <a:ln w="19050">
            <a:solidFill>
              <a:srgbClr val="A68646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915400" y="1874520"/>
            <a:ext cx="1920240" cy="868680"/>
          </a:xfrm>
          <a:prstGeom prst="rect">
            <a:avLst/>
          </a:prstGeom>
          <a:solidFill>
            <a:srgbClr val="F4F0E6"/>
          </a:solidFill>
          <a:ln w="15240">
            <a:solidFill>
              <a:srgbClr val="A686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92B48"/>
                </a:solidFill>
              </a:rPr>
              <a:t>Database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92B48"/>
                </a:solidFill>
              </a:rPr>
              <a:t>Audit + history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4160520"/>
            <a:ext cx="10058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must add: server-side RBAC, branch isolation, workflow validation, audit logs, backups, monitoring, secure deployment, and real data migration.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418320" y="64739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Service Operations Digitalization |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686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DISCUSSION DRAFT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2B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next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457200" cy="457200"/>
          </a:xfrm>
          <a:prstGeom prst="rect">
            <a:avLst/>
          </a:prstGeom>
          <a:solidFill>
            <a:srgbClr val="A68646"/>
          </a:solidFill>
          <a:ln w="12700">
            <a:solidFill>
              <a:srgbClr val="A686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737360" y="1399032"/>
            <a:ext cx="3383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2B48"/>
                </a:solidFill>
              </a:rPr>
              <a:t>Run prototype meeting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39496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Present, demo, and listen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457200" cy="457200"/>
          </a:xfrm>
          <a:prstGeom prst="rect">
            <a:avLst/>
          </a:prstGeom>
          <a:solidFill>
            <a:srgbClr val="A68646"/>
          </a:solidFill>
          <a:ln w="12700">
            <a:solidFill>
              <a:srgbClr val="A686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2359152"/>
            <a:ext cx="3383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2B48"/>
                </a:solidFill>
              </a:rPr>
              <a:t>Complete discovery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394960" y="2377440"/>
            <a:ext cx="5029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Use questionnaire with operations users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3337560"/>
            <a:ext cx="457200" cy="457200"/>
          </a:xfrm>
          <a:prstGeom prst="rect">
            <a:avLst/>
          </a:prstGeom>
          <a:solidFill>
            <a:srgbClr val="A68646"/>
          </a:solidFill>
          <a:ln w="12700">
            <a:solidFill>
              <a:srgbClr val="A686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37360" y="3319272"/>
            <a:ext cx="3383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2B48"/>
                </a:solidFill>
              </a:rPr>
              <a:t>Finalize Phase 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94960" y="3337560"/>
            <a:ext cx="5029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Scope, acceptance criteria, price, timeline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4297680"/>
            <a:ext cx="457200" cy="457200"/>
          </a:xfrm>
          <a:prstGeom prst="rect">
            <a:avLst/>
          </a:prstGeom>
          <a:solidFill>
            <a:srgbClr val="A68646"/>
          </a:solidFill>
          <a:ln w="12700">
            <a:solidFill>
              <a:srgbClr val="A6864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37360" y="4279392"/>
            <a:ext cx="3383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2B48"/>
                </a:solidFill>
              </a:rPr>
              <a:t>Approve build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94960" y="4297680"/>
            <a:ext cx="5029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Start production implementation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5623560"/>
            <a:ext cx="10058400" cy="566928"/>
          </a:xfrm>
          <a:prstGeom prst="rect">
            <a:avLst/>
          </a:prstGeom>
          <a:solidFill>
            <a:srgbClr val="192B48"/>
          </a:solidFill>
          <a:ln w="12700">
            <a:solidFill>
              <a:srgbClr val="192B4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requested today: validate whether Job Orders should be the first production phase and agree to a structured requirements discovery.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418320" y="64739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Service Operations Digitalization | 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Client Discussion Draft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Operations Digitalization Proposal</dc:title>
  <dc:subject>Service Operations Digitalization Proposal</dc:subject>
  <dc:creator>Client Discussion Draft</dc:creator>
  <cp:lastModifiedBy>Client Discussion Draft</cp:lastModifiedBy>
  <cp:revision>1</cp:revision>
  <dcterms:created xsi:type="dcterms:W3CDTF">2026-08-21T14:30:34Z</dcterms:created>
  <dcterms:modified xsi:type="dcterms:W3CDTF">2026-08-21T14:30:34Z</dcterms:modified>
</cp:coreProperties>
</file>